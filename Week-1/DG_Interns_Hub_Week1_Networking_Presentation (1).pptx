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1675"/>
  <p:notesSz cx="6858000" cy="9144000"/>
  <p:embeddedFontLst>
    <p:embeddedFont>
      <p:font typeface="Play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AF9E397-C09D-4B90-95D2-7A08B1E9AC00}">
  <a:tblStyle styleId="{6AF9E397-C09D-4B90-95D2-7A08B1E9AC0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lay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Play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46C94"/>
                </a:solidFill>
                <a:latin typeface="Play"/>
                <a:ea typeface="Play"/>
                <a:cs typeface="Play"/>
                <a:sym typeface="Play"/>
              </a:rPr>
              <a:t>CYBERSECURITY INTERNSHIP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640080" y="1828800"/>
            <a:ext cx="10972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6324D"/>
                </a:solidFill>
                <a:latin typeface="Play"/>
                <a:ea typeface="Play"/>
                <a:cs typeface="Play"/>
                <a:sym typeface="Play"/>
              </a:rPr>
              <a:t>WEEK 1 ASSIGNMENT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232A31"/>
                </a:solidFill>
                <a:latin typeface="Play"/>
                <a:ea typeface="Play"/>
                <a:cs typeface="Play"/>
                <a:sym typeface="Play"/>
              </a:rPr>
              <a:t>NETWORKING FUNDAMENTALS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834640" y="3931920"/>
            <a:ext cx="65836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Submitted By: Akash Sanuria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Intern ID: DG/SEPTEMBER/CYBER/171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DG Interns Hub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11480" y="6519672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DG Interns Hub | Cybersecurity Internship | Week 1                                        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2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Week 1: What I Learned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685800" y="1234440"/>
            <a:ext cx="10698480" cy="4754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OSI Model – 7 layers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TCP/IP Model – 4 layers and OSI comparison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HTTP/HTTPS, FTP, DNS and DHCP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IP addressing, public/private IP and basic subnetting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Windows network commands: ipconfig, ping, tracert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Cisco Packet Tracer: PC → Switch → Router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411480" y="6519672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DG Interns Hub | Cybersecurity Internship | Week 1                                         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2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Task 1 — OSI Model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457200" y="74980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Seven layers of network communication</a:t>
            </a:r>
            <a:endParaRPr/>
          </a:p>
        </p:txBody>
      </p:sp>
      <p:graphicFrame>
        <p:nvGraphicFramePr>
          <p:cNvPr id="103" name="Google Shape;103;p15"/>
          <p:cNvGraphicFramePr/>
          <p:nvPr/>
        </p:nvGraphicFramePr>
        <p:xfrm>
          <a:off x="594360" y="1143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{6AF9E397-C09D-4B90-95D2-7A08B1E9AC00}</a:tableStyleId>
              </a:tblPr>
              <a:tblGrid>
                <a:gridCol w="914400"/>
                <a:gridCol w="2194550"/>
                <a:gridCol w="7863850"/>
              </a:tblGrid>
              <a:tr h="56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Layer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163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163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Main Function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16324D"/>
                    </a:solidFill>
                  </a:tcPr>
                </a:tc>
              </a:tr>
              <a:tr h="56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Application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Network services for user applications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  <a:tr h="56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1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Presentation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1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Formatting, encryption, compression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1F8FB"/>
                    </a:solidFill>
                  </a:tcPr>
                </a:tc>
              </a:tr>
              <a:tr h="56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Session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Starts, manages and ends sessions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  <a:tr h="56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1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Transport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1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End-to-end delivery; TCP/UDP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1F8FB"/>
                    </a:solidFill>
                  </a:tcPr>
                </a:tc>
              </a:tr>
              <a:tr h="56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Network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IP addressing and routing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  <a:tr h="56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1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Link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1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Frames and MAC addresses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1F8FB"/>
                    </a:solidFill>
                  </a:tcPr>
                </a:tc>
              </a:tr>
              <a:tr h="56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Physical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Transmits bits through media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" name="Google Shape;104;p15"/>
          <p:cNvSpPr txBox="1"/>
          <p:nvPr/>
        </p:nvSpPr>
        <p:spPr>
          <a:xfrm>
            <a:off x="685800" y="580644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46C94"/>
                </a:solidFill>
                <a:latin typeface="Arial"/>
                <a:ea typeface="Arial"/>
                <a:cs typeface="Arial"/>
                <a:sym typeface="Arial"/>
              </a:rPr>
              <a:t>Example: Browser → TCP delivery → IP routing → Ethernet/Wi-Fi transmission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411480" y="6519672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DG Interns Hub | Cybersecurity Internship | Week 1                                         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2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Task 2 — TCP/IP Model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457200" y="74980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4 layers and comparison with OSI</a:t>
            </a:r>
            <a:endParaRPr/>
          </a:p>
        </p:txBody>
      </p:sp>
      <p:graphicFrame>
        <p:nvGraphicFramePr>
          <p:cNvPr id="113" name="Google Shape;113;p16"/>
          <p:cNvGraphicFramePr/>
          <p:nvPr/>
        </p:nvGraphicFramePr>
        <p:xfrm>
          <a:off x="594360" y="1234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{6AF9E397-C09D-4B90-95D2-7A08B1E9AC00}</a:tableStyleId>
              </a:tblPr>
              <a:tblGrid>
                <a:gridCol w="2103125"/>
                <a:gridCol w="4297675"/>
                <a:gridCol w="4572000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TCP/IP Layer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163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Function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163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OSI Mapping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16324D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Application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Network services for applications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Application + Presentation + Session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Transport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1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Communication using TCP or UDP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1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Transport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1F8FB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Internet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IP addressing and routing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Network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Network Access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1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Local and physical transmission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1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Link + Physical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1F8FB"/>
                    </a:solidFill>
                  </a:tcPr>
                </a:tc>
              </a:tr>
            </a:tbl>
          </a:graphicData>
        </a:graphic>
      </p:graphicFrame>
      <p:sp>
        <p:nvSpPr>
          <p:cNvPr id="114" name="Google Shape;114;p16"/>
          <p:cNvSpPr txBox="1"/>
          <p:nvPr/>
        </p:nvSpPr>
        <p:spPr>
          <a:xfrm>
            <a:off x="777240" y="466344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OSI is a 7-layer reference model.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TCP/IP is a 4-layer practical networking model.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Some OSI layers are combined in TCP/IP.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411480" y="6519672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DG Interns Hub | Cybersecurity Internship | Week 1                                         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2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Task 3 — Common Network Protocols</a:t>
            </a:r>
            <a:endParaRPr/>
          </a:p>
        </p:txBody>
      </p:sp>
      <p:graphicFrame>
        <p:nvGraphicFramePr>
          <p:cNvPr id="122" name="Google Shape;122;p17"/>
          <p:cNvGraphicFramePr/>
          <p:nvPr/>
        </p:nvGraphicFramePr>
        <p:xfrm>
          <a:off x="502920" y="1188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{6AF9E397-C09D-4B90-95D2-7A08B1E9AC00}</a:tableStyleId>
              </a:tblPr>
              <a:tblGrid>
                <a:gridCol w="1828800"/>
                <a:gridCol w="4297675"/>
                <a:gridCol w="1645925"/>
                <a:gridCol w="3429000"/>
              </a:tblGrid>
              <a:tr h="804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Protocol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163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Purpose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163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Port(s)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16324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Example Use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16324D"/>
                    </a:solidFill>
                  </a:tcPr>
                </a:tc>
              </a:tr>
              <a:tr h="804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HTTP / HTTPS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Web communication; HTTPS is encrypted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 / 443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Websites &amp; web apps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  <a:tr h="804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FTP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1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File transfer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1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 / 21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1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Upload/download files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1F8FB"/>
                    </a:solidFill>
                  </a:tcPr>
                </a:tc>
              </a:tr>
              <a:tr h="804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DNS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Domain name → IP address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Finding google.com IP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FFFFF"/>
                    </a:solidFill>
                  </a:tcPr>
                </a:tc>
              </a:tr>
              <a:tr h="804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DHCP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1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Automatic network configuration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1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UDP 67 / 68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1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50" u="none" cap="none" strike="noStrike">
                          <a:solidFill>
                            <a:srgbClr val="232A3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Automatic IP assignment</a:t>
                      </a:r>
                      <a:endParaRPr/>
                    </a:p>
                  </a:txBody>
                  <a:tcPr marT="36575" marB="36575" marR="54875" marL="54875" anchor="ctr">
                    <a:solidFill>
                      <a:srgbClr val="F1F8FB"/>
                    </a:solidFill>
                  </a:tcPr>
                </a:tc>
              </a:tr>
            </a:tbl>
          </a:graphicData>
        </a:graphic>
      </p:graphicFrame>
      <p:sp>
        <p:nvSpPr>
          <p:cNvPr id="123" name="Google Shape;123;p17"/>
          <p:cNvSpPr txBox="1"/>
          <p:nvPr/>
        </p:nvSpPr>
        <p:spPr>
          <a:xfrm>
            <a:off x="685800" y="544068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HTTP/HTTPS = Web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FTP = File transfer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DNS = Name to IP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DHCP = Automatic IP/network settings</a:t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411480" y="6519672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DG Interns Hub | Cybersecurity Internship | Week 1                                         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2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Task 4 — IP Addressing &amp; Basic Subnetting</a:t>
            </a: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IPv4 identifies a device on a network (example: 192.168.1.10).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Public IP: used/routable on the public Internet.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Private IP: used inside local networks.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Private ranges: 10.0.0.0/8, 172.16.0.0/12, 192.168.0.0/16.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Subnetting divides a network into smaller subnetworks.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255.255.255.0 = /24 → 256 total addresses, 254 usable hosts.</a:t>
            </a:r>
            <a:endParaRPr/>
          </a:p>
        </p:txBody>
      </p:sp>
      <p:sp>
        <p:nvSpPr>
          <p:cNvPr id="132" name="Google Shape;132;p18"/>
          <p:cNvSpPr txBox="1"/>
          <p:nvPr/>
        </p:nvSpPr>
        <p:spPr>
          <a:xfrm>
            <a:off x="411480" y="6519672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DG Interns Hub | Cybersecurity Internship | Week 1                                         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2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Task 5 — Windows Network Commands</a:t>
            </a:r>
            <a:endParaRPr/>
          </a:p>
        </p:txBody>
      </p:sp>
      <p:sp>
        <p:nvSpPr>
          <p:cNvPr id="139" name="Google Shape;139;p19"/>
          <p:cNvSpPr txBox="1"/>
          <p:nvPr/>
        </p:nvSpPr>
        <p:spPr>
          <a:xfrm>
            <a:off x="457200" y="74980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Practical work performed on my own laptop</a:t>
            </a:r>
            <a:endParaRPr/>
          </a:p>
        </p:txBody>
      </p:sp>
      <p:pic>
        <p:nvPicPr>
          <p:cNvPr descr="ip.png" id="140" name="Google Shape;14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143000"/>
            <a:ext cx="3657600" cy="33422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26-09-04 172628.png" id="141" name="Google Shape;14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3400" y="1143000"/>
            <a:ext cx="3566160" cy="12416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race complete.png" id="142" name="Google Shape;14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2440" y="1143000"/>
            <a:ext cx="3566160" cy="2145237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9"/>
          <p:cNvSpPr txBox="1"/>
          <p:nvPr/>
        </p:nvSpPr>
        <p:spPr>
          <a:xfrm>
            <a:off x="640080" y="50749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6C94"/>
                </a:solidFill>
                <a:latin typeface="Arial"/>
                <a:ea typeface="Arial"/>
                <a:cs typeface="Arial"/>
                <a:sym typeface="Arial"/>
              </a:rPr>
              <a:t>ipconfig</a:t>
            </a:r>
            <a:endParaRPr/>
          </a:p>
        </p:txBody>
      </p:sp>
      <p:sp>
        <p:nvSpPr>
          <p:cNvPr id="144" name="Google Shape;144;p19"/>
          <p:cNvSpPr txBox="1"/>
          <p:nvPr/>
        </p:nvSpPr>
        <p:spPr>
          <a:xfrm>
            <a:off x="4480560" y="50749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6C94"/>
                </a:solidFill>
                <a:latin typeface="Arial"/>
                <a:ea typeface="Arial"/>
                <a:cs typeface="Arial"/>
                <a:sym typeface="Arial"/>
              </a:rPr>
              <a:t>ping google.com</a:t>
            </a:r>
            <a:endParaRPr/>
          </a:p>
        </p:txBody>
      </p:sp>
      <p:sp>
        <p:nvSpPr>
          <p:cNvPr id="145" name="Google Shape;145;p19"/>
          <p:cNvSpPr txBox="1"/>
          <p:nvPr/>
        </p:nvSpPr>
        <p:spPr>
          <a:xfrm>
            <a:off x="8229600" y="50749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46C94"/>
                </a:solidFill>
                <a:latin typeface="Arial"/>
                <a:ea typeface="Arial"/>
                <a:cs typeface="Arial"/>
                <a:sym typeface="Arial"/>
              </a:rPr>
              <a:t>tracert google.com</a:t>
            </a:r>
            <a:endParaRPr/>
          </a:p>
        </p:txBody>
      </p:sp>
      <p:sp>
        <p:nvSpPr>
          <p:cNvPr id="146" name="Google Shape;146;p19"/>
          <p:cNvSpPr txBox="1"/>
          <p:nvPr/>
        </p:nvSpPr>
        <p:spPr>
          <a:xfrm>
            <a:off x="685800" y="562356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Result: Ping test received 4/4 packets with 0% loss; tracert successfully reached the destination.</a:t>
            </a:r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411480" y="6519672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DG Interns Hub | Cybersecurity Internship | Week 1                                         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2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0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Task 6 — Cisco Packet Tracer</a:t>
            </a:r>
            <a:endParaRPr/>
          </a:p>
        </p:txBody>
      </p:sp>
      <p:sp>
        <p:nvSpPr>
          <p:cNvPr id="154" name="Google Shape;154;p20"/>
          <p:cNvSpPr txBox="1"/>
          <p:nvPr/>
        </p:nvSpPr>
        <p:spPr>
          <a:xfrm>
            <a:off x="457200" y="749808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PC0 → Switch0 → Router0</a:t>
            </a:r>
            <a:endParaRPr/>
          </a:p>
        </p:txBody>
      </p:sp>
      <p:pic>
        <p:nvPicPr>
          <p:cNvPr descr="greendot.png" id="155" name="Google Shape;15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097280"/>
            <a:ext cx="5486400" cy="28205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test.png" id="156" name="Google Shape;15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0" y="1051560"/>
            <a:ext cx="4937760" cy="419276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 txBox="1"/>
          <p:nvPr/>
        </p:nvSpPr>
        <p:spPr>
          <a:xfrm>
            <a:off x="731520" y="4160520"/>
            <a:ext cx="106984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PC0 IP: 192.168.1.10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Subnet Mask: 255.255.255.0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Default Gateway: 192.168.1.1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Router0 IP: 192.168.1.1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Copper Straight-Through cables used</a:t>
            </a:r>
            <a:endParaRPr/>
          </a:p>
        </p:txBody>
      </p:sp>
      <p:sp>
        <p:nvSpPr>
          <p:cNvPr id="158" name="Google Shape;158;p20"/>
          <p:cNvSpPr txBox="1"/>
          <p:nvPr/>
        </p:nvSpPr>
        <p:spPr>
          <a:xfrm>
            <a:off x="411480" y="6519672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DG Interns Hub | Cybersecurity Internship | Week 1                                         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2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1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Packet Tracer — Connectivity Verification</a:t>
            </a:r>
            <a:endParaRPr/>
          </a:p>
        </p:txBody>
      </p:sp>
      <p:pic>
        <p:nvPicPr>
          <p:cNvPr descr="hijjkljkljkljkljkljj.png" id="165" name="Google Shape;16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1051560"/>
            <a:ext cx="6675120" cy="478370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1"/>
          <p:cNvSpPr txBox="1"/>
          <p:nvPr/>
        </p:nvSpPr>
        <p:spPr>
          <a:xfrm>
            <a:off x="7726679" y="1234440"/>
            <a:ext cx="384048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Command: ping 192.168.1.1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Packets sent: 4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Packets received: 4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Packets lost: 0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Packet loss: 0%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Conclusion: PC0 successfully communicated with Router0.</a:t>
            </a:r>
            <a:endParaRPr/>
          </a:p>
        </p:txBody>
      </p:sp>
      <p:sp>
        <p:nvSpPr>
          <p:cNvPr id="167" name="Google Shape;167;p21"/>
          <p:cNvSpPr txBox="1"/>
          <p:nvPr/>
        </p:nvSpPr>
        <p:spPr>
          <a:xfrm>
            <a:off x="411480" y="6519672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DG Interns Hub | Cybersecurity Internship | Week 1                                         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24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2"/>
          <p:cNvSpPr txBox="1"/>
          <p:nvPr/>
        </p:nvSpPr>
        <p:spPr>
          <a:xfrm>
            <a:off x="411480" y="118872"/>
            <a:ext cx="11338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Key Learnings &amp; Conclusion</a:t>
            </a:r>
            <a:endParaRPr/>
          </a:p>
        </p:txBody>
      </p:sp>
      <p:sp>
        <p:nvSpPr>
          <p:cNvPr id="174" name="Google Shape;174;p22"/>
          <p:cNvSpPr txBox="1"/>
          <p:nvPr/>
        </p:nvSpPr>
        <p:spPr>
          <a:xfrm>
            <a:off x="685800" y="1234440"/>
            <a:ext cx="1069848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Understood how OSI and TCP/IP models organize communication.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Learned the role of common networking protocols.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Understood public/private IP addressing and /24 subnetting.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Practiced real diagnostic commands on Windows.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Built and configured a working Packet Tracer network.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32A31"/>
                </a:solidFill>
                <a:latin typeface="Arial"/>
                <a:ea typeface="Arial"/>
                <a:cs typeface="Arial"/>
                <a:sym typeface="Arial"/>
              </a:rPr>
              <a:t>• Verified connectivity with a successful 0% packet-loss ping test.</a:t>
            </a:r>
            <a:endParaRPr/>
          </a:p>
        </p:txBody>
      </p:sp>
      <p:sp>
        <p:nvSpPr>
          <p:cNvPr id="175" name="Google Shape;175;p22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46C94"/>
                </a:solidFill>
                <a:latin typeface="Play"/>
                <a:ea typeface="Play"/>
                <a:cs typeface="Play"/>
                <a:sym typeface="Play"/>
              </a:rPr>
              <a:t>Week 1 Networking Fundamentals — Completed</a:t>
            </a:r>
            <a:endParaRPr/>
          </a:p>
        </p:txBody>
      </p:sp>
      <p:sp>
        <p:nvSpPr>
          <p:cNvPr id="176" name="Google Shape;176;p22"/>
          <p:cNvSpPr txBox="1"/>
          <p:nvPr/>
        </p:nvSpPr>
        <p:spPr>
          <a:xfrm>
            <a:off x="411480" y="6519672"/>
            <a:ext cx="11338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46E"/>
                </a:solidFill>
                <a:latin typeface="Arial"/>
                <a:ea typeface="Arial"/>
                <a:cs typeface="Arial"/>
                <a:sym typeface="Arial"/>
              </a:rPr>
              <a:t>DG Interns Hub | Cybersecurity Internship | Week 1                                         10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