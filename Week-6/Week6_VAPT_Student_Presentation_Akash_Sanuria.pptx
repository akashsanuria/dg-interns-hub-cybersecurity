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1">
                <a:solidFill>
                  <a:srgbClr val="B2CEE7"/>
                </a:solidFill>
                <a:latin typeface="Aptos"/>
              </a:defRPr>
            </a:pPr>
            <a:r>
              <a:t>CYBERSECURITY INTERNSHIP  /  WEEK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663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Web Security &amp; Vulnerability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577"/>
                </a:solidFill>
                <a:latin typeface="Aptos"/>
              </a:defRPr>
            </a:pPr>
            <a:r>
              <a:t>DG Interns Hub  •  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3200" b="1">
                <a:solidFill>
                  <a:srgbClr val="1F67A3"/>
                </a:solidFill>
                <a:latin typeface="Aptos"/>
              </a:defRPr>
            </a:pPr>
            <a:r>
              <a:t>DVWA • Burp Suite • OWASP ZAP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536577"/>
                </a:solidFill>
                <a:latin typeface="Aptos"/>
              </a:defRPr>
            </a:pPr>
            <a:r>
              <a:t>Practical testing and basic vulnerability assessment</a:t>
            </a:r>
          </a:p>
          <a:p>
            <a:pPr>
              <a:spcAft>
                <a:spcPts val="1300"/>
              </a:spcAft>
              <a:defRPr sz="2000" b="0">
                <a:solidFill>
                  <a:srgbClr val="536577"/>
                </a:solidFill>
                <a:latin typeface="Aptos"/>
              </a:defRPr>
            </a:pPr>
            <a:r>
              <a:t>14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1">
                <a:solidFill>
                  <a:srgbClr val="B2CEE7"/>
                </a:solidFill>
                <a:latin typeface="Aptos"/>
              </a:defRPr>
            </a:pPr>
            <a:r>
              <a:t>WEEK 6  /  VAPT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663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Aim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577"/>
                </a:solidFill>
                <a:latin typeface="Aptos"/>
              </a:defRPr>
            </a:pPr>
            <a:r>
              <a:t>DG Interns Hub  •  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42A41"/>
                </a:solidFill>
                <a:latin typeface="Aptos"/>
              </a:defRPr>
            </a:pPr>
            <a:r>
              <a:t>My aim was to understand common web security issues and practice testing in a local lab.</a:t>
            </a:r>
          </a:p>
          <a:p>
            <a:pPr>
              <a:spcAft>
                <a:spcPts val="1300"/>
              </a:spcAft>
              <a:defRPr sz="21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42A41"/>
                </a:solidFill>
                <a:latin typeface="Aptos"/>
              </a:defRPr>
            </a:pPr>
            <a:r>
              <a:t>DVWA — intentionally vulnerable web application</a:t>
            </a:r>
          </a:p>
          <a:p>
            <a:pPr>
              <a:spcAft>
                <a:spcPts val="1300"/>
              </a:spcAft>
              <a:defRPr sz="2100" b="0">
                <a:solidFill>
                  <a:srgbClr val="142A41"/>
                </a:solidFill>
                <a:latin typeface="Aptos"/>
              </a:defRPr>
            </a:pPr>
            <a:r>
              <a:t>Burp Suite Community — inspecting HTTP requests and responses</a:t>
            </a:r>
          </a:p>
          <a:p>
            <a:pPr>
              <a:spcAft>
                <a:spcPts val="1300"/>
              </a:spcAft>
              <a:defRPr sz="2100" b="0">
                <a:solidFill>
                  <a:srgbClr val="142A41"/>
                </a:solidFill>
                <a:latin typeface="Aptos"/>
              </a:defRPr>
            </a:pPr>
            <a:r>
              <a:t>OWASP ZAP — automated security scanning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1">
                <a:solidFill>
                  <a:srgbClr val="B2CEE7"/>
                </a:solidFill>
                <a:latin typeface="Aptos"/>
              </a:defRPr>
            </a:pPr>
            <a:r>
              <a:t>WEEK 6  /  VAPT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663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OWASP topics I studied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577"/>
                </a:solidFill>
                <a:latin typeface="Aptos"/>
              </a:defRPr>
            </a:pPr>
            <a:r>
              <a:t>DG Interns Hub  •  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142A41"/>
                </a:solidFill>
                <a:latin typeface="Aptos"/>
              </a:defRPr>
            </a:pPr>
            <a:r>
              <a:t>SQL Injection — unsafe database input can change queries.</a:t>
            </a:r>
          </a:p>
          <a:p>
            <a:pPr>
              <a:spcAft>
                <a:spcPts val="1300"/>
              </a:spcAft>
              <a:defRPr sz="2000" b="0">
                <a:solidFill>
                  <a:srgbClr val="142A41"/>
                </a:solidFill>
                <a:latin typeface="Aptos"/>
              </a:defRPr>
            </a:pPr>
            <a:r>
              <a:t>XSS — untrusted input can run JavaScript in a browser.</a:t>
            </a:r>
          </a:p>
          <a:p>
            <a:pPr>
              <a:spcAft>
                <a:spcPts val="1300"/>
              </a:spcAft>
              <a:defRPr sz="2000" b="0">
                <a:solidFill>
                  <a:srgbClr val="142A41"/>
                </a:solidFill>
                <a:latin typeface="Aptos"/>
              </a:defRPr>
            </a:pPr>
            <a:r>
              <a:t>Broken Authentication — weak login and session controls can expose accounts.</a:t>
            </a:r>
          </a:p>
          <a:p>
            <a:pPr>
              <a:spcAft>
                <a:spcPts val="1300"/>
              </a:spcAft>
              <a:defRPr sz="2000" b="0">
                <a:solidFill>
                  <a:srgbClr val="142A41"/>
                </a:solidFill>
                <a:latin typeface="Aptos"/>
              </a:defRPr>
            </a:pPr>
            <a:r>
              <a:t>Security Misconfiguration — missing headers or insecure defaults increase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1">
                <a:solidFill>
                  <a:srgbClr val="B2CEE7"/>
                </a:solidFill>
                <a:latin typeface="Aptos"/>
              </a:defRPr>
            </a:pPr>
            <a:r>
              <a:t>WEEK 6  /  VAPT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663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My DVWA lab and SQL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577"/>
                </a:solidFill>
                <a:latin typeface="Aptos"/>
              </a:defRPr>
            </a:pPr>
            <a:r>
              <a:t>DG Interns Hub  •  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  <a:r>
              <a:t>I used DVWA in my local lab and opened its SQL Injection page.</a:t>
            </a: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  <a:r>
              <a:t>I entered test input and checked how the page responded.</a:t>
            </a: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  <a:r>
              <a:t>Prevention: parameterized queries and input validation.</a:t>
            </a:r>
          </a:p>
        </p:txBody>
      </p:sp>
      <p:pic>
        <p:nvPicPr>
          <p:cNvPr id="7" name="Picture 6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866678"/>
            <a:ext cx="5577840" cy="38104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1">
                <a:solidFill>
                  <a:srgbClr val="B2CEE7"/>
                </a:solidFill>
                <a:latin typeface="Aptos"/>
              </a:defRPr>
            </a:pPr>
            <a:r>
              <a:t>WEEK 6  /  VAPT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663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Reflected and Stored XSS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577"/>
                </a:solidFill>
                <a:latin typeface="Aptos"/>
              </a:defRPr>
            </a:pPr>
            <a:r>
              <a:t>DG Interns Hub  •  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42A41"/>
                </a:solidFill>
                <a:latin typeface="Aptos"/>
              </a:defRPr>
            </a:pPr>
            <a:r>
              <a:t>Reflected XSS: I submitted a test input and checked the immediate page response.</a:t>
            </a:r>
          </a:p>
          <a:p>
            <a:pPr>
              <a:spcAft>
                <a:spcPts val="1300"/>
              </a:spcAft>
              <a:defRPr sz="18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1800" b="0">
                <a:solidFill>
                  <a:srgbClr val="142A41"/>
                </a:solidFill>
                <a:latin typeface="Aptos"/>
              </a:defRPr>
            </a:pPr>
            <a:r>
              <a:t>Stored XSS: I entered test data into a field and checked whether it appeared again.</a:t>
            </a:r>
          </a:p>
          <a:p>
            <a:pPr>
              <a:spcAft>
                <a:spcPts val="1300"/>
              </a:spcAft>
              <a:defRPr sz="18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1800" b="0">
                <a:solidFill>
                  <a:srgbClr val="142A41"/>
                </a:solidFill>
                <a:latin typeface="Aptos"/>
              </a:defRPr>
            </a:pPr>
            <a:r>
              <a:t>Prevention: output encoding and safe input handling.</a:t>
            </a:r>
          </a:p>
        </p:txBody>
      </p:sp>
      <p:pic>
        <p:nvPicPr>
          <p:cNvPr id="7" name="Picture 6" descr="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242" y="1463040"/>
            <a:ext cx="3662235" cy="2240280"/>
          </a:xfrm>
          <a:prstGeom prst="rect">
            <a:avLst/>
          </a:prstGeom>
        </p:spPr>
      </p:pic>
      <p:pic>
        <p:nvPicPr>
          <p:cNvPr id="8" name="Picture 7" descr="p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799" y="3794760"/>
            <a:ext cx="389512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1">
                <a:solidFill>
                  <a:srgbClr val="B2CEE7"/>
                </a:solidFill>
                <a:latin typeface="Aptos"/>
              </a:defRPr>
            </a:pPr>
            <a:r>
              <a:t>WEEK 6  /  VAPT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663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Checking HTTP traffic with Burp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577"/>
                </a:solidFill>
                <a:latin typeface="Aptos"/>
              </a:defRPr>
            </a:pPr>
            <a:r>
              <a:t>DG Interns Hub  •  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142A41"/>
                </a:solidFill>
                <a:latin typeface="Aptos"/>
              </a:defRPr>
            </a:pPr>
            <a:r>
              <a:t>I used Burp Suite Community to inspect web traffic from the lab.</a:t>
            </a:r>
          </a:p>
          <a:p>
            <a:pPr>
              <a:spcAft>
                <a:spcPts val="1300"/>
              </a:spcAft>
              <a:defRPr sz="18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1800" b="0">
                <a:solidFill>
                  <a:srgbClr val="142A41"/>
                </a:solidFill>
                <a:latin typeface="Aptos"/>
              </a:defRPr>
            </a:pPr>
            <a:r>
              <a:t>I reviewed a request and its response to understand how the browser communicates with the application.</a:t>
            </a:r>
          </a:p>
          <a:p>
            <a:pPr>
              <a:spcAft>
                <a:spcPts val="1300"/>
              </a:spcAft>
              <a:defRPr sz="18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1800" b="0">
                <a:solidFill>
                  <a:srgbClr val="142A41"/>
                </a:solidFill>
                <a:latin typeface="Aptos"/>
              </a:defRPr>
            </a:pPr>
            <a:r>
              <a:t>This helped connect the web pages to HTTP behavior.</a:t>
            </a:r>
          </a:p>
        </p:txBody>
      </p:sp>
      <p:pic>
        <p:nvPicPr>
          <p:cNvPr id="7" name="Picture 6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430541"/>
            <a:ext cx="5577840" cy="26827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1">
                <a:solidFill>
                  <a:srgbClr val="B2CEE7"/>
                </a:solidFill>
                <a:latin typeface="Aptos"/>
              </a:defRPr>
            </a:pPr>
            <a:r>
              <a:t>WEEK 6  /  VAPT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663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OWASP ZAP automated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577"/>
                </a:solidFill>
                <a:latin typeface="Aptos"/>
              </a:defRPr>
            </a:pPr>
            <a:r>
              <a:t>DG Interns Hub  •  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  <a:r>
              <a:t>I ran an automated ZAP scan against my local DVWA instance.</a:t>
            </a: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  <a:r>
              <a:t>The scan produced alerts that I reviewed by risk level.</a:t>
            </a: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  <a:r>
              <a:t>ZAP results need manual review; an alert is not automatically a confirmed exploit.</a:t>
            </a:r>
          </a:p>
        </p:txBody>
      </p:sp>
      <p:pic>
        <p:nvPicPr>
          <p:cNvPr id="7" name="Picture 6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37149"/>
            <a:ext cx="5577840" cy="446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1">
                <a:solidFill>
                  <a:srgbClr val="B2CEE7"/>
                </a:solidFill>
                <a:latin typeface="Aptos"/>
              </a:defRPr>
            </a:pPr>
            <a:r>
              <a:t>WEEK 6  /  VAPT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663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Scan findings and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577"/>
                </a:solidFill>
                <a:latin typeface="Aptos"/>
              </a:defRPr>
            </a:pPr>
            <a:r>
              <a:t>DG Interns Hub  •  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  <a:r>
              <a:t>ZAP reported 10 alert types: 0 High, 2 Medium, 5 Low, 3 Informational.</a:t>
            </a: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  <a:r>
              <a:t>Examples: Content Security Policy header not set; anti-clickjacking header missing; cookie flags not configured; server version information exposed.</a:t>
            </a: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142A41"/>
                </a:solidFill>
                <a:latin typeface="Aptos"/>
              </a:defRPr>
            </a:pPr>
            <a:r>
              <a:t>Recommended fixes: add suitable security headers, protect cookies with HttpOnly and SameSite, reduce unnecessary server details, and retest.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14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164592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1">
                <a:solidFill>
                  <a:srgbClr val="B2CEE7"/>
                </a:solidFill>
                <a:latin typeface="Aptos"/>
              </a:defRPr>
            </a:pPr>
            <a:r>
              <a:t>WEEK 6  /  VAPT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4663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536577"/>
                </a:solidFill>
                <a:latin typeface="Aptos"/>
              </a:defRPr>
            </a:pPr>
            <a:r>
              <a:t>DG Interns Hub  •  Akash Sanuria  •  DG/SEPTEMBER/CYBER/171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142A41"/>
                </a:solidFill>
                <a:latin typeface="Aptos"/>
              </a:defRPr>
            </a:pPr>
            <a:r>
              <a:t>During Week 6, I practiced SQL Injection and XSS testing in DVWA, checked HTTP traffic using Burp Suite, and reviewed OWASP ZAP scan alerts.</a:t>
            </a:r>
          </a:p>
          <a:p>
            <a:pPr>
              <a:spcAft>
                <a:spcPts val="1300"/>
              </a:spcAft>
              <a:defRPr sz="21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42A41"/>
                </a:solidFill>
                <a:latin typeface="Aptos"/>
              </a:defRPr>
            </a:pPr>
            <a:r>
              <a:t>I learned that automated tools help identify possible issues, but results still need to be understood and verified.</a:t>
            </a:r>
          </a:p>
          <a:p>
            <a:pPr>
              <a:spcAft>
                <a:spcPts val="1300"/>
              </a:spcAft>
              <a:defRPr sz="2100" b="0">
                <a:solidFill>
                  <a:srgbClr val="142A41"/>
                </a:solidFill>
                <a:latin typeface="Aptos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142A41"/>
                </a:solidFill>
                <a:latin typeface="Aptos"/>
              </a:defRPr>
            </a:pPr>
            <a:r>
              <a:t>Testing scope: my local intentionally vulnerable lab. These results do not describe a real production website.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