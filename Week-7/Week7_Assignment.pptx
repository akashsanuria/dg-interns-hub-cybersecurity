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97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97F87"/>
                </a:solidFill>
              </a:defRPr>
            </a:pPr>
            <a:r>
              <a:t>WEEK 7  /  DVWA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9283B"/>
                </a:solidFill>
              </a:defRPr>
            </a:pPr>
            <a:r>
              <a:t>Web Application Vulnerability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881360" cy="18288"/>
          </a:xfrm>
          <a:prstGeom prst="rect">
            <a:avLst/>
          </a:prstGeom>
          <a:solidFill>
            <a:srgbClr val="D3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9672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A6874"/>
                </a:solidFill>
              </a:defRPr>
            </a:pPr>
            <a:r>
              <a:t>Akash Sanuria  |  DG/SEPTEMBER/CYBER/171   •  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9283B"/>
                </a:solidFill>
              </a:defRPr>
            </a:pPr>
            <a:r>
              <a:t>DVWA local lab  •  Burp Suite Community Edition  •  OWASP ZAP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9144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>
                <a:solidFill>
                  <a:srgbClr val="EBF2FA"/>
                </a:solidFill>
              </a:rPr>
              <a:t>Submitted by: Akash Sanuria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EBF2FA"/>
                </a:solidFill>
              </a:rPr>
              <a:t>Intern ID: DG/SEPTEMBER/CYBER/171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EBF2FA"/>
                </a:solidFill>
              </a:rPr>
              <a:t>Internship: DG Interns Hub – Cybersecurity Internship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166360"/>
            <a:ext cx="10698480" cy="594360"/>
          </a:xfrm>
          <a:prstGeom prst="rect">
            <a:avLst/>
          </a:prstGeom>
          <a:solidFill>
            <a:srgbClr val="E2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27608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9283B"/>
                </a:solidFill>
              </a:defRPr>
            </a:pPr>
            <a:r>
              <a:t>Training-only assessment  |  http://127.0.0.1:4280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97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97F87"/>
                </a:solidFill>
              </a:defRPr>
            </a:pPr>
            <a:r>
              <a:t>WEEK 7  /  DVWA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9283B"/>
                </a:solidFill>
              </a:defRPr>
            </a:pPr>
            <a:r>
              <a:t>Objectives &amp; Assessment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881360" cy="18288"/>
          </a:xfrm>
          <a:prstGeom prst="rect">
            <a:avLst/>
          </a:prstGeom>
          <a:solidFill>
            <a:srgbClr val="D3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9672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A6874"/>
                </a:solidFill>
              </a:defRPr>
            </a:pPr>
            <a:r>
              <a:t>Akash Sanuria  |  DG/SEPTEMBER/CYBER/171   •  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058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9283B"/>
                </a:solidFill>
              </a:defRPr>
            </a:pPr>
            <a:r>
              <a:t>• Map DVWA endpoints and request parameters</a:t>
            </a:r>
          </a:p>
          <a:p>
            <a:pPr>
              <a:spcAft>
                <a:spcPts val="1200"/>
              </a:spcAft>
              <a:defRPr sz="2100" b="0">
                <a:solidFill>
                  <a:srgbClr val="19283B"/>
                </a:solidFill>
              </a:defRPr>
            </a:pPr>
            <a:r>
              <a:t>• Demonstrate SQL injection, reflected XSS and stored XSS</a:t>
            </a:r>
          </a:p>
          <a:p>
            <a:pPr>
              <a:spcAft>
                <a:spcPts val="1200"/>
              </a:spcAft>
              <a:defRPr sz="2100" b="0">
                <a:solidFill>
                  <a:srgbClr val="19283B"/>
                </a:solidFill>
              </a:defRPr>
            </a:pPr>
            <a:r>
              <a:t>• Observe invalid-login handling and request modification</a:t>
            </a:r>
          </a:p>
          <a:p>
            <a:pPr>
              <a:spcAft>
                <a:spcPts val="1200"/>
              </a:spcAft>
              <a:defRPr sz="2100" b="0">
                <a:solidFill>
                  <a:srgbClr val="19283B"/>
                </a:solidFill>
              </a:defRPr>
            </a:pPr>
            <a:r>
              <a:t>• Discover paths using ZAP Spider</a:t>
            </a:r>
          </a:p>
          <a:p>
            <a:pPr>
              <a:spcAft>
                <a:spcPts val="1200"/>
              </a:spcAft>
              <a:defRPr sz="2100" b="0">
                <a:solidFill>
                  <a:srgbClr val="19283B"/>
                </a:solidFill>
              </a:defRPr>
            </a:pPr>
            <a:r>
              <a:t>• Document evidence and remediation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97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97F87"/>
                </a:solidFill>
              </a:defRPr>
            </a:pPr>
            <a:r>
              <a:t>WEEK 7  /  DVWA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9283B"/>
                </a:solidFill>
              </a:defRPr>
            </a:pPr>
            <a:r>
              <a:t>Lab Setup &amp; Testing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881360" cy="18288"/>
          </a:xfrm>
          <a:prstGeom prst="rect">
            <a:avLst/>
          </a:prstGeom>
          <a:solidFill>
            <a:srgbClr val="D3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9672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A6874"/>
                </a:solidFill>
              </a:defRPr>
            </a:pPr>
            <a:r>
              <a:t>Akash Sanuria  |  DG/SEPTEMBER/CYBER/171   •  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9283B"/>
                </a:solidFill>
              </a:defRPr>
            </a:pPr>
            <a:r>
              <a:t>Kali Linux (VirtualBox)  →  Burp Proxy / Repeater  →  DVWA Docker</a:t>
            </a:r>
          </a:p>
          <a:p>
            <a:pPr>
              <a:spcAft>
                <a:spcPts val="1200"/>
              </a:spcAft>
              <a:defRPr sz="2100" b="0">
                <a:solidFill>
                  <a:srgbClr val="19283B"/>
                </a:solidFill>
              </a:defRPr>
            </a:pPr>
          </a:p>
          <a:p>
            <a:pPr>
              <a:spcAft>
                <a:spcPts val="1200"/>
              </a:spcAft>
              <a:defRPr sz="2100" b="0">
                <a:solidFill>
                  <a:srgbClr val="19283B"/>
                </a:solidFill>
              </a:defRPr>
            </a:pPr>
            <a:r>
              <a:t>OWASP ZAP Manual Explore  →  Spider Discovery  →  Findings Review</a:t>
            </a:r>
          </a:p>
          <a:p>
            <a:pPr>
              <a:spcAft>
                <a:spcPts val="1200"/>
              </a:spcAft>
              <a:defRPr sz="2100" b="0">
                <a:solidFill>
                  <a:srgbClr val="19283B"/>
                </a:solidFill>
              </a:defRPr>
            </a:pPr>
          </a:p>
          <a:p>
            <a:pPr>
              <a:spcAft>
                <a:spcPts val="1200"/>
              </a:spcAft>
              <a:defRPr sz="2100" b="0">
                <a:solidFill>
                  <a:srgbClr val="19283B"/>
                </a:solidFill>
              </a:defRPr>
            </a:pPr>
            <a:r>
              <a:t>Target: http://127.0.0.1:4280</a:t>
            </a:r>
          </a:p>
          <a:p>
            <a:pPr>
              <a:spcAft>
                <a:spcPts val="1200"/>
              </a:spcAft>
              <a:defRPr sz="2100" b="0">
                <a:solidFill>
                  <a:srgbClr val="19283B"/>
                </a:solidFill>
              </a:defRPr>
            </a:pPr>
            <a:r>
              <a:t>DVWA Security: 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97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97F87"/>
                </a:solidFill>
              </a:defRPr>
            </a:pPr>
            <a:r>
              <a:t>WEEK 7  /  DVWA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9283B"/>
                </a:solidFill>
              </a:defRPr>
            </a:pPr>
            <a:r>
              <a:t>Burp Suite: Request Mapping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881360" cy="18288"/>
          </a:xfrm>
          <a:prstGeom prst="rect">
            <a:avLst/>
          </a:prstGeom>
          <a:solidFill>
            <a:srgbClr val="D3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9672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A6874"/>
                </a:solidFill>
              </a:defRPr>
            </a:pPr>
            <a:r>
              <a:t>Akash Sanuria  |  DG/SEPTEMBER/CYBER/171   •   04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74519"/>
            <a:ext cx="10561320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1663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9283B"/>
                </a:solidFill>
              </a:defRPr>
            </a:pPr>
            <a:r>
              <a:t>Captured GET requests and guestbook POST /vulnerabilities/xss_s/.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97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97F87"/>
                </a:solidFill>
              </a:defRPr>
            </a:pPr>
            <a:r>
              <a:t>WEEK 7  /  DVWA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9283B"/>
                </a:solidFill>
              </a:defRPr>
            </a:pPr>
            <a:r>
              <a:t>Finding 1 | SQL Injection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881360" cy="18288"/>
          </a:xfrm>
          <a:prstGeom prst="rect">
            <a:avLst/>
          </a:prstGeom>
          <a:solidFill>
            <a:srgbClr val="D3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9672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A6874"/>
                </a:solidFill>
              </a:defRPr>
            </a:pPr>
            <a:r>
              <a:t>Akash Sanuria  |  DG/SEPTEMBER/CYBER/171   •  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9283B"/>
                </a:solidFill>
              </a:defRPr>
            </a:pPr>
            <a:r>
              <a:t>Observation: A crafted input on /vulnerabilities/sqli/ returned multiple sample user records.</a:t>
            </a:r>
          </a:p>
          <a:p>
            <a:pPr>
              <a:spcAft>
                <a:spcPts val="1200"/>
              </a:spcAft>
              <a:defRPr sz="2100" b="0">
                <a:solidFill>
                  <a:srgbClr val="19283B"/>
                </a:solidFill>
              </a:defRPr>
            </a:pPr>
          </a:p>
          <a:p>
            <a:pPr>
              <a:spcAft>
                <a:spcPts val="1200"/>
              </a:spcAft>
              <a:defRPr sz="2100" b="0">
                <a:solidFill>
                  <a:srgbClr val="19283B"/>
                </a:solidFill>
              </a:defRPr>
            </a:pPr>
            <a:r>
              <a:t>Impact: Potential exposure of database records in similarly vulnerable applications.</a:t>
            </a:r>
          </a:p>
          <a:p>
            <a:pPr>
              <a:spcAft>
                <a:spcPts val="1200"/>
              </a:spcAft>
              <a:defRPr sz="2100" b="0">
                <a:solidFill>
                  <a:srgbClr val="19283B"/>
                </a:solidFill>
              </a:defRPr>
            </a:pPr>
          </a:p>
          <a:p>
            <a:pPr>
              <a:spcAft>
                <a:spcPts val="1200"/>
              </a:spcAft>
              <a:defRPr sz="2100" b="0">
                <a:solidFill>
                  <a:srgbClr val="19283B"/>
                </a:solidFill>
              </a:defRPr>
            </a:pPr>
            <a:r>
              <a:t>Fix: Parameterized queries, least-privilege database access, input type validation.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97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97F87"/>
                </a:solidFill>
              </a:defRPr>
            </a:pPr>
            <a:r>
              <a:t>WEEK 7  /  DVWA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9283B"/>
                </a:solidFill>
              </a:defRPr>
            </a:pPr>
            <a:r>
              <a:t>Finding 2 | Reflected XSS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881360" cy="18288"/>
          </a:xfrm>
          <a:prstGeom prst="rect">
            <a:avLst/>
          </a:prstGeom>
          <a:solidFill>
            <a:srgbClr val="D3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9672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A6874"/>
                </a:solidFill>
              </a:defRPr>
            </a:pPr>
            <a:r>
              <a:t>Akash Sanuria  |  DG/SEPTEMBER/CYBER/171   •  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9283B"/>
                </a:solidFill>
              </a:defRPr>
            </a:pPr>
            <a:r>
              <a:t>Observation: Untrusted name parameter content was reflected and executed in the browser, triggering a JavaScript alert.</a:t>
            </a:r>
          </a:p>
          <a:p>
            <a:pPr>
              <a:spcAft>
                <a:spcPts val="1200"/>
              </a:spcAft>
              <a:defRPr sz="2100" b="0">
                <a:solidFill>
                  <a:srgbClr val="19283B"/>
                </a:solidFill>
              </a:defRPr>
            </a:pPr>
          </a:p>
          <a:p>
            <a:pPr>
              <a:spcAft>
                <a:spcPts val="1200"/>
              </a:spcAft>
              <a:defRPr sz="2100" b="0">
                <a:solidFill>
                  <a:srgbClr val="19283B"/>
                </a:solidFill>
              </a:defRPr>
            </a:pPr>
            <a:r>
              <a:t>Impact: Script execution in the application origin if exploited in a real-world context.</a:t>
            </a:r>
          </a:p>
          <a:p>
            <a:pPr>
              <a:spcAft>
                <a:spcPts val="1200"/>
              </a:spcAft>
              <a:defRPr sz="2100" b="0">
                <a:solidFill>
                  <a:srgbClr val="19283B"/>
                </a:solidFill>
              </a:defRPr>
            </a:pPr>
          </a:p>
          <a:p>
            <a:pPr>
              <a:spcAft>
                <a:spcPts val="1200"/>
              </a:spcAft>
              <a:defRPr sz="2100" b="0">
                <a:solidFill>
                  <a:srgbClr val="19283B"/>
                </a:solidFill>
              </a:defRPr>
            </a:pPr>
            <a:r>
              <a:t>Fix: Context-aware output encoding, safe DOM APIs, defense-in-depth CSP.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97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97F87"/>
                </a:solidFill>
              </a:defRPr>
            </a:pPr>
            <a:r>
              <a:t>WEEK 7  /  DVWA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9283B"/>
                </a:solidFill>
              </a:defRPr>
            </a:pPr>
            <a:r>
              <a:t>Finding 3 | Stored XSS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881360" cy="18288"/>
          </a:xfrm>
          <a:prstGeom prst="rect">
            <a:avLst/>
          </a:prstGeom>
          <a:solidFill>
            <a:srgbClr val="D3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9672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A6874"/>
                </a:solidFill>
              </a:defRPr>
            </a:pPr>
            <a:r>
              <a:t>Akash Sanuria  |  DG/SEPTEMBER/CYBER/171   •  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19283B"/>
                </a:solidFill>
              </a:defRPr>
            </a:pPr>
            <a:r>
              <a:t>Observation: A guestbook script was stored and executed when content was rendered.</a:t>
            </a:r>
          </a:p>
          <a:p>
            <a:pPr>
              <a:spcAft>
                <a:spcPts val="1200"/>
              </a:spcAft>
              <a:defRPr sz="2100" b="0">
                <a:solidFill>
                  <a:srgbClr val="19283B"/>
                </a:solidFill>
              </a:defRPr>
            </a:pPr>
          </a:p>
          <a:p>
            <a:pPr>
              <a:spcAft>
                <a:spcPts val="1200"/>
              </a:spcAft>
              <a:defRPr sz="2100" b="0">
                <a:solidFill>
                  <a:srgbClr val="19283B"/>
                </a:solidFill>
              </a:defRPr>
            </a:pPr>
            <a:r>
              <a:t>Evidence: Burp captured POST fields txtName, mtxMessage and btnSign.</a:t>
            </a:r>
          </a:p>
          <a:p>
            <a:pPr>
              <a:spcAft>
                <a:spcPts val="1200"/>
              </a:spcAft>
              <a:defRPr sz="2100" b="0">
                <a:solidFill>
                  <a:srgbClr val="19283B"/>
                </a:solidFill>
              </a:defRPr>
            </a:pPr>
          </a:p>
          <a:p>
            <a:pPr>
              <a:spcAft>
                <a:spcPts val="1200"/>
              </a:spcAft>
              <a:defRPr sz="2100" b="0">
                <a:solidFill>
                  <a:srgbClr val="19283B"/>
                </a:solidFill>
              </a:defRPr>
            </a:pPr>
            <a:r>
              <a:t>Fix: Safe output encoding for stored user content; retest after remediation.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97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97F87"/>
                </a:solidFill>
              </a:defRPr>
            </a:pPr>
            <a:r>
              <a:t>WEEK 7  /  DVWA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9283B"/>
                </a:solidFill>
              </a:defRPr>
            </a:pPr>
            <a:r>
              <a:t>Authentication &amp; Parameter Tampering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881360" cy="18288"/>
          </a:xfrm>
          <a:prstGeom prst="rect">
            <a:avLst/>
          </a:prstGeom>
          <a:solidFill>
            <a:srgbClr val="D3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9672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A6874"/>
                </a:solidFill>
              </a:defRPr>
            </a:pPr>
            <a:r>
              <a:t>Akash Sanuria  |  DG/SEPTEMBER/CYBER/171   •   08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74519"/>
            <a:ext cx="5760720" cy="3474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1228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9283B"/>
                </a:solidFill>
              </a:defRPr>
            </a:pPr>
            <a:r>
              <a:t>• Incorrect password: “Login failed”</a:t>
            </a:r>
          </a:p>
          <a:p>
            <a:pPr>
              <a:spcAft>
                <a:spcPts val="1200"/>
              </a:spcAft>
              <a:defRPr sz="1900" b="0">
                <a:solidFill>
                  <a:srgbClr val="19283B"/>
                </a:solidFill>
              </a:defRPr>
            </a:pPr>
          </a:p>
          <a:p>
            <a:pPr>
              <a:spcAft>
                <a:spcPts val="1200"/>
              </a:spcAft>
              <a:defRPr sz="1900" b="0">
                <a:solidFill>
                  <a:srgbClr val="19283B"/>
                </a:solidFill>
              </a:defRPr>
            </a:pPr>
            <a:r>
              <a:t>• Burp Repeater changed id=1 to id=2</a:t>
            </a:r>
          </a:p>
          <a:p>
            <a:pPr>
              <a:spcAft>
                <a:spcPts val="1200"/>
              </a:spcAft>
              <a:defRPr sz="1900" b="0">
                <a:solidFill>
                  <a:srgbClr val="19283B"/>
                </a:solidFill>
              </a:defRPr>
            </a:pPr>
          </a:p>
          <a:p>
            <a:pPr>
              <a:spcAft>
                <a:spcPts val="1200"/>
              </a:spcAft>
              <a:defRPr sz="1900" b="0">
                <a:solidFill>
                  <a:srgbClr val="19283B"/>
                </a:solidFill>
              </a:defRPr>
            </a:pPr>
            <a:r>
              <a:t>• Response: Gordon Brown</a:t>
            </a:r>
          </a:p>
          <a:p>
            <a:pPr>
              <a:spcAft>
                <a:spcPts val="1200"/>
              </a:spcAft>
              <a:defRPr sz="1900" b="0">
                <a:solidFill>
                  <a:srgbClr val="19283B"/>
                </a:solidFill>
              </a:defRPr>
            </a:pPr>
          </a:p>
          <a:p>
            <a:pPr>
              <a:spcAft>
                <a:spcPts val="1200"/>
              </a:spcAft>
              <a:defRPr sz="1900" b="0">
                <a:solidFill>
                  <a:srgbClr val="19283B"/>
                </a:solidFill>
              </a:defRPr>
            </a:pPr>
            <a:r>
              <a:t>• This alone does not prove IDOR.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97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97F87"/>
                </a:solidFill>
              </a:defRPr>
            </a:pPr>
            <a:r>
              <a:t>WEEK 7  /  DVWA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9283B"/>
                </a:solidFill>
              </a:defRPr>
            </a:pPr>
            <a:r>
              <a:t>OWASP ZAP | Spider Discovery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881360" cy="18288"/>
          </a:xfrm>
          <a:prstGeom prst="rect">
            <a:avLst/>
          </a:prstGeom>
          <a:solidFill>
            <a:srgbClr val="D3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9672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A6874"/>
                </a:solidFill>
              </a:defRPr>
            </a:pPr>
            <a:r>
              <a:t>Akash Sanuria  |  DG/SEPTEMBER/CYBER/171   •   09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74519"/>
            <a:ext cx="10652760" cy="3520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5577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9283B"/>
                </a:solidFill>
              </a:defRPr>
            </a:pPr>
            <a:r>
              <a:t>100% complete   •   122 URLs found   •   57 nodes added   •   0 active scans running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97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97F87"/>
                </a:solidFill>
              </a:defRPr>
            </a:pPr>
            <a:r>
              <a:t>WEEK 7  /  DVWA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9283B"/>
                </a:solidFill>
              </a:defRPr>
            </a:pPr>
            <a:r>
              <a:t>Recommendations &amp; Final 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881360" cy="18288"/>
          </a:xfrm>
          <a:prstGeom prst="rect">
            <a:avLst/>
          </a:prstGeom>
          <a:solidFill>
            <a:srgbClr val="D3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9672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A6874"/>
                </a:solidFill>
              </a:defRPr>
            </a:pPr>
            <a:r>
              <a:t>Akash Sanuria  |  DG/SEPTEMBER/CYBER/171   •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9283B"/>
                </a:solidFill>
              </a:defRPr>
            </a:pPr>
            <a:r>
              <a:t>1. Use parameterized SQL statements.</a:t>
            </a:r>
          </a:p>
          <a:p>
            <a:pPr>
              <a:spcAft>
                <a:spcPts val="1200"/>
              </a:spcAft>
              <a:defRPr sz="2000" b="0">
                <a:solidFill>
                  <a:srgbClr val="19283B"/>
                </a:solidFill>
              </a:defRPr>
            </a:pPr>
            <a:r>
              <a:t>2. Encode untrusted data in HTML output contexts.</a:t>
            </a:r>
          </a:p>
          <a:p>
            <a:pPr>
              <a:spcAft>
                <a:spcPts val="1200"/>
              </a:spcAft>
              <a:defRPr sz="2000" b="0">
                <a:solidFill>
                  <a:srgbClr val="19283B"/>
                </a:solidFill>
              </a:defRPr>
            </a:pPr>
            <a:r>
              <a:t>3. Review cookies, headers and directory exposure.</a:t>
            </a:r>
          </a:p>
          <a:p>
            <a:pPr>
              <a:spcAft>
                <a:spcPts val="1200"/>
              </a:spcAft>
              <a:defRPr sz="2000" b="0">
                <a:solidFill>
                  <a:srgbClr val="19283B"/>
                </a:solidFill>
              </a:defRPr>
            </a:pPr>
            <a:r>
              <a:t>4. Retest fixes with the same request and expected behavior.</a:t>
            </a:r>
          </a:p>
          <a:p>
            <a:pPr>
              <a:spcAft>
                <a:spcPts val="1200"/>
              </a:spcAft>
              <a:defRPr sz="2000" b="0">
                <a:solidFill>
                  <a:srgbClr val="19283B"/>
                </a:solidFill>
              </a:defRPr>
            </a:pPr>
          </a:p>
          <a:p>
            <a:pPr>
              <a:spcAft>
                <a:spcPts val="1200"/>
              </a:spcAft>
              <a:defRPr sz="2000" b="0">
                <a:solidFill>
                  <a:srgbClr val="19283B"/>
                </a:solidFill>
              </a:defRPr>
            </a:pPr>
            <a:r>
              <a:t>Tasks 22–26: Complete | Three manually demonstrated vulnerability types.</a:t>
            </a:r>
          </a:p>
          <a:p>
            <a:pPr>
              <a:spcAft>
                <a:spcPts val="1200"/>
              </a:spcAft>
              <a:defRPr sz="2000" b="0">
                <a:solidFill>
                  <a:srgbClr val="19283B"/>
                </a:solidFill>
              </a:defRPr>
            </a:pPr>
            <a:r>
              <a:t>ZAP passive alerts are observations, not automatically confirmed findings.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